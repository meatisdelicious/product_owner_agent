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Y5d/HbtrH7PV1gL8sAg+SV4NW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Open with the PO problem: too much feedback, constant prioritization pressure, and a need for faster backlog preparation.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Explain that the agent does not replace the PO. It gives a consistent, explainable starting point.</a:t>
            </a:r>
            <a:endParaRPr/>
          </a:p>
        </p:txBody>
      </p:sp>
      <p:sp>
        <p:nvSpPr>
          <p:cNvPr id="116" name="Google Shape;11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Spend 8 to 10 minutes in the live demo. This slide is only the roadmap.</a:t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Use this as a backup or as the transition after the live demo. Point out that the UI groups the PO decision into analysis, prioritization, complexity, story, and criteria.</a:t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Mention the key formula: priority score = 0.4 impact + 0.6 urgency. MoSCoW categories are derived from score thresholds.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Tie this to the evaluation criteria: technical quality, completeness, business understanding, and user experience.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Close with the value: faster triage, clearer prioritization, and better backlog quality.</a:t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955593f1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955593f1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Close with the value: faster triage, clearer prioritization, and better backlog quality.</a:t>
            </a:r>
            <a:endParaRPr/>
          </a:p>
        </p:txBody>
      </p:sp>
      <p:sp>
        <p:nvSpPr>
          <p:cNvPr id="159" name="Google Shape;159;g3d955593f1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d955593f1e_2_19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g3d955593f1e_2_19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" name="Google Shape;16;g3d955593f1e_2_19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3d955593f1e_2_19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3d955593f1e_2_19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g3d955593f1e_2_19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g3d955593f1e_2_19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g3d955593f1e_2_19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3" name="Google Shape;23;g3d955593f1e_2_19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d955593f1e_2_19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g3d955593f1e_2_19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d955593f1e_2_19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d955593f1e_2_20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g3d955593f1e_2_20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0" name="Google Shape;30;g3d955593f1e_2_20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d955593f1e_2_20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g3d955593f1e_2_2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3" name="Google Shape;33;g3d955593f1e_2_2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g3d955593f1e_2_20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d955593f1e_2_2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g3d955593f1e_2_2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8" name="Google Shape;38;g3d955593f1e_2_2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g3d955593f1e_2_2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g3d955593f1e_2_21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1" name="Google Shape;41;g3d955593f1e_2_21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g3d955593f1e_2_21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g3d955593f1e_2_2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955593f1e_2_2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g3d955593f1e_2_2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g3d955593f1e_2_2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g3d955593f1e_2_2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g3d955593f1e_2_2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0" name="Google Shape;50;g3d955593f1e_2_2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955593f1e_2_2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g3d955593f1e_2_22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4" name="Google Shape;54;g3d955593f1e_2_22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3d955593f1e_2_22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g3d955593f1e_2_228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7" name="Google Shape;57;g3d955593f1e_2_228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g3d955593f1e_2_2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g3d955593f1e_2_23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1" name="Google Shape;61;g3d955593f1e_2_2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g3d955593f1e_2_2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g3d955593f1e_2_236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g3d955593f1e_2_2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955593f1e_2_24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g3d955593f1e_2_24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g3d955593f1e_2_24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g3d955593f1e_2_24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g3d955593f1e_2_24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g3d955593f1e_2_24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2" name="Google Shape;72;g3d955593f1e_2_24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g3d955593f1e_2_2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55593f1e_2_25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6" name="Google Shape;76;g3d955593f1e_2_2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g3d955593f1e_2_25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9" name="Google Shape;79;g3d955593f1e_2_25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d955593f1e_2_25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g3d955593f1e_2_25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g3d955593f1e_2_25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g3d955593f1e_2_2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955593f1e_2_26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55593f1e_2_263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g3d955593f1e_2_263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2385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6pPr>
            <a:lvl7pPr indent="-32385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8pPr>
            <a:lvl9pPr indent="-32385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Char char="■"/>
              <a:defRPr sz="1500"/>
            </a:lvl9pPr>
          </a:lstStyle>
          <a:p/>
        </p:txBody>
      </p:sp>
      <p:sp>
        <p:nvSpPr>
          <p:cNvPr id="89" name="Google Shape;89;g3d955593f1e_2_263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90" name="Google Shape;90;g3d955593f1e_2_26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955593f1e_2_26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d955593f1e_2_26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55593f1e_2_27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g3d955593f1e_2_27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6" name="Google Shape;96;g3d955593f1e_2_27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955593f1e_2_27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955593f1e_2_27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d955593f1e_2_1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g3d955593f1e_2_18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g3d955593f1e_2_18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685800" y="917944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Product Owner Agent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371600" y="233330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Assistant IA pour l’analyse des retours utilisateurs, la priorisation et la rédaction de user stories</a:t>
            </a:r>
            <a:br>
              <a:rPr lang="en-US">
                <a:solidFill>
                  <a:srgbClr val="888888"/>
                </a:solidFill>
              </a:rPr>
            </a:br>
            <a:br>
              <a:rPr lang="en-US">
                <a:solidFill>
                  <a:srgbClr val="888888"/>
                </a:solidFill>
              </a:rPr>
            </a:br>
            <a:r>
              <a:rPr lang="en-US"/>
              <a:t>Présentation du test technique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/>
              <a:t>Product Owner Agent</a:t>
            </a:r>
            <a:endParaRPr/>
          </a:p>
        </p:txBody>
      </p:sp>
      <p:sp>
        <p:nvSpPr>
          <p:cNvPr id="111" name="Google Shape;111;p2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000"/>
              <a:buNone/>
            </a:pPr>
            <a:r>
              <a:rPr lang="en-US"/>
              <a:t>Transforme des retours clients bruts en décisions prêtes à être intégrées par le product owner.</a:t>
            </a:r>
            <a:endParaRPr/>
          </a:p>
        </p:txBody>
      </p:sp>
      <p:pic>
        <p:nvPicPr>
          <p:cNvPr descr="1_Data/readme_imgs/start_page.png"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700" y="1295400"/>
            <a:ext cx="5105400" cy="21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Besoin produit et périmètre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L’agent prend en charge trois tâches quotidiennes du Product Owner :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analyse des retours : classifier le commentaire et extraire la fonctionnalité demandée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priorisation : estimer l’impact et l’urgence, puis calculer une recommandation avec MoSCoW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rédaction assistée : générer une user story, des critères d’acceptation et une estimation de complexité</a:t>
            </a:r>
            <a:endParaRPr sz="18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Le résultat est une première analyse structurée à destination du Product Owner pour validation.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Démonstration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457200" y="1200150"/>
            <a:ext cx="8229600" cy="3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Exemple de retour utilisateur </a:t>
            </a:r>
            <a:r>
              <a:rPr lang="en-US" sz="1800"/>
              <a:t>:</a:t>
            </a:r>
            <a:endParaRPr sz="1800"/>
          </a:p>
          <a:p>
            <a:pPr indent="0" lvl="0" marL="1270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/>
              <a:t>“We need role-based permissions because managing access across large teams is risky right now. Admin control is not granular enough.”</a:t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800"/>
              <a:t>Déroulé de la démonstration :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Exécuter le pipeline complet depuis l’interface utilisateur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Vérifier la fonctionnalité extraite et le type de retour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Vérifier l’impact, l’urgence et la catégorie MoSCoW</a:t>
            </a:r>
            <a:endParaRPr sz="1800"/>
          </a:p>
          <a:p>
            <a:pPr indent="-3048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Vérifier la user story générée, les critères d’acceptation et la complexité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Exemple de résultat</a:t>
            </a:r>
            <a:endParaRPr/>
          </a:p>
        </p:txBody>
      </p:sp>
      <p:pic>
        <p:nvPicPr>
          <p:cNvPr descr="1_Data/readme_imgs/final_result_with_ui_example.png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1193800"/>
            <a:ext cx="6019800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Architecture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457200" y="983375"/>
            <a:ext cx="8229600" cy="4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User feedback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-&gt; ProductOwnerAgent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FeatureExtractor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FeatureEvaluator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FeatureScorer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    -&gt; UserStoryWriter</a:t>
            </a:r>
            <a:br>
              <a:rPr lang="en-US" sz="1600">
                <a:latin typeface="Courier"/>
                <a:ea typeface="Courier"/>
                <a:cs typeface="Courier"/>
                <a:sym typeface="Courier"/>
              </a:rPr>
            </a:br>
            <a:r>
              <a:rPr lang="en-US" sz="1600">
                <a:latin typeface="Courier"/>
                <a:ea typeface="Courier"/>
                <a:cs typeface="Courier"/>
                <a:sym typeface="Courier"/>
              </a:rPr>
              <a:t>    -&gt; ProductOwnerOutput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Choix techniques : 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D</a:t>
            </a:r>
            <a:r>
              <a:rPr lang="en-US" sz="1600"/>
              <a:t>es agents spécialisés permettent de garder des prompts ciblés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Les schémas Pydantic contraignent les sorties du modèle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</a:t>
            </a:r>
            <a:r>
              <a:rPr lang="en-US" sz="1600"/>
              <a:t>e score de priorité et la complexité sont déterministes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</a:t>
            </a:r>
            <a:r>
              <a:rPr lang="en-US" sz="1600"/>
              <a:t>’interface Streamlit et la CLI partagent la même couche d’orchestration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rPr lang="en-US"/>
              <a:t>Evaluation et qualité</a:t>
            </a:r>
            <a:endParaRPr/>
          </a:p>
        </p:txBody>
      </p:sp>
      <p:sp>
        <p:nvSpPr>
          <p:cNvPr id="147" name="Google Shape;147;p7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/>
              <a:t>Controle qualité :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200"/>
              </a:spcBef>
              <a:spcAft>
                <a:spcPts val="0"/>
              </a:spcAft>
              <a:buSzPts val="1050"/>
              <a:buChar char="-"/>
            </a:pPr>
            <a:r>
              <a:rPr lang="en-US"/>
              <a:t>U</a:t>
            </a:r>
            <a:r>
              <a:rPr lang="en-US"/>
              <a:t>ne évaluation basée sur un dataset “supervisé”</a:t>
            </a:r>
            <a:endParaRPr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5275" lvl="0" marL="457200" rtl="0" algn="l">
              <a:spcBef>
                <a:spcPts val="200"/>
              </a:spcBef>
              <a:spcAft>
                <a:spcPts val="0"/>
              </a:spcAft>
              <a:buSzPts val="1050"/>
              <a:buChar char="-"/>
            </a:pPr>
            <a:r>
              <a:rPr lang="en-US"/>
              <a:t>D</a:t>
            </a:r>
            <a:r>
              <a:rPr lang="en-US"/>
              <a:t>es calculs déterministes réduisent la variabilité pour les décisions critiques</a:t>
            </a:r>
            <a:endParaRPr/>
          </a:p>
        </p:txBody>
      </p:sp>
      <p:pic>
        <p:nvPicPr>
          <p:cNvPr descr="1_Data/readme_imgs/metrics_large_dataset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700" y="762000"/>
            <a:ext cx="5105400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Défis et prochaines étapes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457200" y="1200150"/>
            <a:ext cx="8229600" cy="3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Défis résolus :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</a:t>
            </a:r>
            <a:r>
              <a:rPr lang="en-US" sz="1600"/>
              <a:t>es retours ambigus sont normalisés en champs structurés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</a:t>
            </a:r>
            <a:r>
              <a:rPr lang="en-US" sz="1600"/>
              <a:t>a priorisation subjective devient révisable grâce à des justifications explicites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</a:t>
            </a:r>
            <a:r>
              <a:rPr lang="en-US" sz="1600"/>
              <a:t>es “user stories” générées suivent un format cohérent prêt pour un Product Owner</a:t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600"/>
              <a:t>Prochaines étapes :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U</a:t>
            </a:r>
            <a:r>
              <a:rPr lang="en-US" sz="1600"/>
              <a:t>tiliser des données réelles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G</a:t>
            </a:r>
            <a:r>
              <a:rPr lang="en-US" sz="1600"/>
              <a:t>érer les cas limites (feedback ambigu, gestion de multiples fonctionnalités…)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Se c</a:t>
            </a:r>
            <a:r>
              <a:rPr lang="en-US" sz="1600"/>
              <a:t>onnecter à Jira, Linear ou d’autres outils de ticketing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T</a:t>
            </a:r>
            <a:r>
              <a:rPr lang="en-US" sz="1600"/>
              <a:t>raiter des lots de messages de retour client plutôt qu’un seul commentaire</a:t>
            </a:r>
            <a:endParaRPr sz="1600"/>
          </a:p>
          <a:p>
            <a:pPr indent="-2921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P</a:t>
            </a:r>
            <a:r>
              <a:rPr lang="en-US" sz="1600"/>
              <a:t>aralléliser les requêtes API LLM</a:t>
            </a:r>
            <a:endParaRPr sz="1600"/>
          </a:p>
          <a:p>
            <a:pPr indent="0" lvl="0" marL="3429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55593f1e_2_0"/>
          <p:cNvSpPr txBox="1"/>
          <p:nvPr>
            <p:ph type="title"/>
          </p:nvPr>
        </p:nvSpPr>
        <p:spPr>
          <a:xfrm>
            <a:off x="457200" y="2087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Merci pour votre attention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2026-04-25T13:20:56Z</dcterms:created>
  <dc:creator>Technical test presentation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AI assistant for feedback analysis, prioritization, and user story writing</vt:lpwstr>
  </property>
</Properties>
</file>